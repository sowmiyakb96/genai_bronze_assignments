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9144000"/>
  <p:notesSz cx="6858000" cy="9144000"/>
  <p:embeddedFontLst>
    <p:embeddedFont>
      <p:font typeface="Corbel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hIWTIz4Z/WE9aLpu3krs64UXNs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Corbel-bold.fntdata"/><Relationship Id="rId21" Type="http://schemas.openxmlformats.org/officeDocument/2006/relationships/font" Target="fonts/Corbel-regular.fntdata"/><Relationship Id="rId24" Type="http://schemas.openxmlformats.org/officeDocument/2006/relationships/font" Target="fonts/Corbel-boldItalic.fntdata"/><Relationship Id="rId23" Type="http://schemas.openxmlformats.org/officeDocument/2006/relationships/font" Target="fonts/Corbel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7"/>
          <p:cNvSpPr/>
          <p:nvPr/>
        </p:nvSpPr>
        <p:spPr>
          <a:xfrm>
            <a:off x="1" y="762000"/>
            <a:ext cx="6856214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7"/>
          <p:cNvSpPr/>
          <p:nvPr/>
        </p:nvSpPr>
        <p:spPr>
          <a:xfrm>
            <a:off x="6952697" y="762000"/>
            <a:ext cx="2193989" cy="5334001"/>
          </a:xfrm>
          <a:prstGeom prst="rect">
            <a:avLst/>
          </a:prstGeom>
          <a:solidFill>
            <a:srgbClr val="C3C3C3">
              <a:alpha val="4980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7"/>
          <p:cNvSpPr txBox="1"/>
          <p:nvPr>
            <p:ph type="ctrTitle"/>
          </p:nvPr>
        </p:nvSpPr>
        <p:spPr>
          <a:xfrm>
            <a:off x="802386" y="1298448"/>
            <a:ext cx="5486400" cy="32552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orbel"/>
              <a:buNone/>
              <a:defRPr sz="54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825011" y="4670246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rgbClr val="D7F0F6"/>
                </a:solidFill>
              </a:defRPr>
            </a:lvl1pPr>
            <a:lvl2pPr lvl="1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2900934" y="1298448"/>
            <a:ext cx="5486400" cy="32552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400"/>
              <a:buFont typeface="Corbel"/>
              <a:buNone/>
              <a:defRPr b="0" sz="5400">
                <a:solidFill>
                  <a:srgbClr val="59595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2914650" y="4672584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2900934" y="868680"/>
            <a:ext cx="260604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655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700"/>
              <a:buChar char="●"/>
              <a:defRPr sz="1700"/>
            </a:lvl2pPr>
            <a:lvl3pPr indent="-32385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500"/>
              <a:buChar char="●"/>
              <a:defRPr sz="1500"/>
            </a:lvl3pPr>
            <a:lvl4pPr indent="-31115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5pPr>
            <a:lvl6pPr indent="-31115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6pPr>
            <a:lvl7pPr indent="-31115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8pPr>
            <a:lvl9pPr indent="-31115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300"/>
              <a:buChar char="●"/>
              <a:defRPr sz="13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5863590" y="868680"/>
            <a:ext cx="260604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655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700"/>
              <a:buChar char="●"/>
              <a:defRPr sz="1700"/>
            </a:lvl2pPr>
            <a:lvl3pPr indent="-32385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500"/>
              <a:buChar char="●"/>
              <a:defRPr sz="1500"/>
            </a:lvl3pPr>
            <a:lvl4pPr indent="-31115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5pPr>
            <a:lvl6pPr indent="-31115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6pPr>
            <a:lvl7pPr indent="-31115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8pPr>
            <a:lvl9pPr indent="-31115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300"/>
              <a:buChar char="●"/>
              <a:defRPr sz="13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2900934" y="1023586"/>
            <a:ext cx="2606040" cy="8077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b="1" sz="1900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2900934" y="1930936"/>
            <a:ext cx="260604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655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700"/>
              <a:buChar char="●"/>
              <a:defRPr sz="1700"/>
            </a:lvl2pPr>
            <a:lvl3pPr indent="-32385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500"/>
              <a:buChar char="●"/>
              <a:defRPr sz="1500"/>
            </a:lvl3pPr>
            <a:lvl4pPr indent="-31115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5pPr>
            <a:lvl6pPr indent="-31115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6pPr>
            <a:lvl7pPr indent="-31115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8pPr>
            <a:lvl9pPr indent="-31115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300"/>
              <a:buChar char="●"/>
              <a:defRPr sz="13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5863847" y="1023587"/>
            <a:ext cx="2606040" cy="81317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b="1" sz="1900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5863847" y="1930936"/>
            <a:ext cx="260604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655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700"/>
              <a:buChar char="●"/>
              <a:defRPr sz="1700"/>
            </a:lvl2pPr>
            <a:lvl3pPr indent="-32385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500"/>
              <a:buChar char="●"/>
              <a:defRPr sz="1500"/>
            </a:lvl3pPr>
            <a:lvl4pPr indent="-31115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5pPr>
            <a:lvl6pPr indent="-31115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6pPr>
            <a:lvl7pPr indent="-31115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300"/>
              <a:buChar char="●"/>
              <a:defRPr sz="1300"/>
            </a:lvl8pPr>
            <a:lvl9pPr indent="-31115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300"/>
              <a:buChar char="●"/>
              <a:defRPr sz="13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192024" y="1143000"/>
            <a:ext cx="212598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orbel"/>
              <a:buNone/>
              <a:defRPr b="0"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2900934" y="868680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600"/>
              <a:buChar char="●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192024" y="3337560"/>
            <a:ext cx="21259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50"/>
              <a:buNone/>
              <a:defRPr sz="125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192024" y="1143000"/>
            <a:ext cx="212598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orbel"/>
              <a:buNone/>
              <a:defRPr b="0"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677983" y="767419"/>
            <a:ext cx="6086423" cy="5330952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192024" y="3340602"/>
            <a:ext cx="21259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50"/>
              <a:buNone/>
              <a:defRPr sz="125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2624326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3084831" y="681228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-1133475" y="2409825"/>
            <a:ext cx="4953000" cy="2114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3083814" y="685800"/>
            <a:ext cx="512064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/>
          <p:nvPr/>
        </p:nvSpPr>
        <p:spPr>
          <a:xfrm>
            <a:off x="1" y="758952"/>
            <a:ext cx="2582693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6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  <a:defRPr b="0" i="0" sz="3000" u="none" cap="none" strike="noStrike">
                <a:solidFill>
                  <a:srgbClr val="FFFFFF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6"/>
          <p:cNvSpPr/>
          <p:nvPr/>
        </p:nvSpPr>
        <p:spPr>
          <a:xfrm>
            <a:off x="8861898" y="758952"/>
            <a:ext cx="288036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6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925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Noto Sans Symbols"/>
              <a:buChar char="●"/>
              <a:defRPr b="0" i="0" sz="19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-336550" lvl="1" marL="9144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●"/>
              <a:defRPr b="0" i="0" sz="17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Noto Sans Symbols"/>
              <a:buChar char="●"/>
              <a:defRPr b="0" i="0" sz="15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-311150" lvl="3" marL="18288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-311150" lvl="4" marL="22860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-311150" lvl="5" marL="27432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-311150" lvl="6" marL="32004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-311150" lvl="7" marL="3657600" marR="0" rtl="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-311150" lvl="8" marL="4114800" marR="0" rtl="0" algn="l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SzPts val="1300"/>
              <a:buFont typeface="Noto Sans Symbols"/>
              <a:buChar char="●"/>
              <a:defRPr b="0" i="0" sz="1300" u="none" cap="none" strike="noStrik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0" type="dt"/>
          </p:nvPr>
        </p:nvSpPr>
        <p:spPr>
          <a:xfrm>
            <a:off x="196849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7F7F7F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1" type="ftr"/>
          </p:nvPr>
        </p:nvSpPr>
        <p:spPr>
          <a:xfrm>
            <a:off x="2901951" y="6356351"/>
            <a:ext cx="443363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7F7F7F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2" type="sldNum"/>
          </p:nvPr>
        </p:nvSpPr>
        <p:spPr>
          <a:xfrm>
            <a:off x="7975602" y="6356351"/>
            <a:ext cx="11481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rtl="0" algn="r">
              <a:spcBef>
                <a:spcPts val="0"/>
              </a:spcBef>
              <a:buNone/>
              <a:defRPr b="1" i="0" sz="1100" u="none" cap="none" strike="noStrike">
                <a:solidFill>
                  <a:schemeClr val="accent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ctrTitle"/>
          </p:nvPr>
        </p:nvSpPr>
        <p:spPr>
          <a:xfrm>
            <a:off x="494414" y="2146342"/>
            <a:ext cx="6129670" cy="150484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orbel"/>
              <a:buNone/>
            </a:pPr>
            <a:r>
              <a:rPr lang="en-IN" sz="3600"/>
              <a:t>Policy &amp; Claims Copilot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orbel"/>
              <a:buNone/>
            </a:pPr>
            <a:r>
              <a:rPr lang="en-IN" sz="3600"/>
              <a:t>(LLM + RAG)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0" y="2905046"/>
            <a:ext cx="91440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595959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Problem</a:t>
            </a:r>
            <a:endParaRPr/>
          </a:p>
        </p:txBody>
      </p:sp>
      <p:sp>
        <p:nvSpPr>
          <p:cNvPr id="95" name="Google Shape;95;p2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Insurance documents are dense and difficult to parse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Customers find it hard to identify limits and exclusions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Claims handling is manual and time-consuming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Standard chatbots may produce incorrect or vague replies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Result: low confidence in automated support</a:t>
            </a:r>
            <a:endParaRPr/>
          </a:p>
          <a:p>
            <a:pPr indent="-6223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Existing Process</a:t>
            </a:r>
            <a:endParaRPr/>
          </a:p>
        </p:txBody>
      </p:sp>
      <p:sp>
        <p:nvSpPr>
          <p:cNvPr id="101" name="Google Shape;101;p3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Customers call or visit insurer for queries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Agents manually check policy documents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Claim verification requires multiple documents and inspections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Processing time depends on human availability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Higher chances of misinterpretation or delay</a:t>
            </a:r>
            <a:endParaRPr/>
          </a:p>
          <a:p>
            <a:pPr indent="-6223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Proposed Process</a:t>
            </a:r>
            <a:endParaRPr/>
          </a:p>
        </p:txBody>
      </p:sp>
      <p:sp>
        <p:nvSpPr>
          <p:cNvPr id="107" name="Google Shape;107;p4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Use an LLM with RAG for policy Q&amp;A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Split policies into chunks and index them in a vector store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Fetch the most relevant clauses before answering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Deliver answers that cite actual policy language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Accelerate claim pre-screening and support workflows</a:t>
            </a:r>
            <a:endParaRPr/>
          </a:p>
          <a:p>
            <a:pPr indent="-6223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Working of LLM</a:t>
            </a:r>
            <a:endParaRPr/>
          </a:p>
        </p:txBody>
      </p:sp>
      <p:sp>
        <p:nvSpPr>
          <p:cNvPr id="113" name="Google Shape;113;p5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A Large Language Model leverages broad text data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produces natural, conversational answers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can summarize and clarify policy queries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However, it may invent facts without document grounding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Working of LLM</a:t>
            </a:r>
            <a:endParaRPr/>
          </a:p>
        </p:txBody>
      </p:sp>
      <p:pic>
        <p:nvPicPr>
          <p:cNvPr id="119" name="Google Shape;119;p6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9661" y="2486018"/>
            <a:ext cx="3790978" cy="1876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Working of RAG</a:t>
            </a:r>
            <a:endParaRPr/>
          </a:p>
        </p:txBody>
      </p:sp>
      <p:sp>
        <p:nvSpPr>
          <p:cNvPr id="125" name="Google Shape;125;p7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RAG blends document search with LLM generation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fetches matching policy passages from the vector index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Those passages are supplied to the LLM as context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This keeps answers tied to real policy text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lowers hallucination risk and improves reliability</a:t>
            </a:r>
            <a:endParaRPr/>
          </a:p>
          <a:p>
            <a:pPr indent="-6223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Working of LLM + RAG</a:t>
            </a:r>
            <a:endParaRPr/>
          </a:p>
        </p:txBody>
      </p:sp>
      <p:sp>
        <p:nvSpPr>
          <p:cNvPr id="131" name="Google Shape;131;p8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The user submits a policy or claim question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The retriever locates relevant clause snippets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The LLM composes a response using those sources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The result is consistent and anchored in policy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This fosters trust and speeds customer support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Working of LLM + RAG</a:t>
            </a:r>
            <a:endParaRPr/>
          </a:p>
        </p:txBody>
      </p:sp>
      <p:pic>
        <p:nvPicPr>
          <p:cNvPr id="137" name="Google Shape;137;p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1950" y="2291177"/>
            <a:ext cx="5486400" cy="22661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Without RAG</a:t>
            </a:r>
            <a:endParaRPr/>
          </a:p>
        </p:txBody>
      </p:sp>
      <p:sp>
        <p:nvSpPr>
          <p:cNvPr id="143" name="Google Shape;143;p10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IN"/>
              <a:t> </a:t>
            </a:r>
            <a:r>
              <a:rPr lang="en-IN">
                <a:latin typeface="Calibri"/>
                <a:ea typeface="Calibri"/>
                <a:cs typeface="Calibri"/>
                <a:sym typeface="Calibri"/>
              </a:rPr>
              <a:t>The LLM relies only on learned patterns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can hallucinate or default to vague statements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may overlook precise coverage terms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It may give different answers for similar queries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IN">
                <a:latin typeface="Calibri"/>
                <a:ea typeface="Calibri"/>
                <a:cs typeface="Calibri"/>
                <a:sym typeface="Calibri"/>
              </a:rPr>
              <a:t>This undermines confidence in insurance support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1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Input / Output</a:t>
            </a:r>
            <a:endParaRPr/>
          </a:p>
        </p:txBody>
      </p:sp>
      <p:sp>
        <p:nvSpPr>
          <p:cNvPr id="149" name="Google Shape;149;p11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2880" lvl="0" marL="18288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Input: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 Policy document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 Customer query or claim scenario</a:t>
            </a:r>
            <a:endParaRPr/>
          </a:p>
          <a:p>
            <a:pPr indent="-6223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Output: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Policy-backed response</a:t>
            </a:r>
            <a:endParaRPr/>
          </a:p>
          <a:p>
            <a:pPr indent="-182880" lvl="0" marL="18288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-IN"/>
              <a:t> Coverage guidance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2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Input</a:t>
            </a:r>
            <a:endParaRPr/>
          </a:p>
        </p:txBody>
      </p:sp>
      <p:pic>
        <p:nvPicPr>
          <p:cNvPr id="155" name="Google Shape;155;p12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47161" y="863600"/>
            <a:ext cx="5395978" cy="512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3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Output</a:t>
            </a:r>
            <a:endParaRPr/>
          </a:p>
        </p:txBody>
      </p:sp>
      <p:pic>
        <p:nvPicPr>
          <p:cNvPr id="161" name="Google Shape;161;p13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1950" y="2643616"/>
            <a:ext cx="5486400" cy="15612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4"/>
          <p:cNvSpPr txBox="1"/>
          <p:nvPr>
            <p:ph type="title"/>
          </p:nvPr>
        </p:nvSpPr>
        <p:spPr>
          <a:xfrm>
            <a:off x="189689" y="1123838"/>
            <a:ext cx="2210612" cy="46011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orbel"/>
              <a:buNone/>
            </a:pPr>
            <a:r>
              <a:rPr lang="en-IN"/>
              <a:t>Advantages</a:t>
            </a:r>
            <a:endParaRPr/>
          </a:p>
        </p:txBody>
      </p:sp>
      <p:sp>
        <p:nvSpPr>
          <p:cNvPr id="167" name="Google Shape;167;p14"/>
          <p:cNvSpPr txBox="1"/>
          <p:nvPr>
            <p:ph idx="1" type="body"/>
          </p:nvPr>
        </p:nvSpPr>
        <p:spPr>
          <a:xfrm>
            <a:off x="2901951" y="864108"/>
            <a:ext cx="54864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IN"/>
              <a:t>• More accurate, consistent policy replies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None/>
            </a:pPr>
            <a:r>
              <a:rPr lang="en-IN"/>
              <a:t>• Lower support center workload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None/>
            </a:pPr>
            <a:r>
              <a:rPr lang="en-IN"/>
              <a:t>• Faster claim evaluation and response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None/>
            </a:pPr>
            <a:r>
              <a:rPr lang="en-IN"/>
              <a:t>• Improved customer trust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200"/>
              <a:buNone/>
            </a:pPr>
            <a:r>
              <a:rPr lang="en-IN"/>
              <a:t>• Transparent answers with source references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5"/>
          <p:cNvSpPr txBox="1"/>
          <p:nvPr>
            <p:ph type="ctrTitle"/>
          </p:nvPr>
        </p:nvSpPr>
        <p:spPr>
          <a:xfrm>
            <a:off x="451883" y="1683826"/>
            <a:ext cx="5677787" cy="150484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orbel"/>
              <a:buNone/>
            </a:pPr>
            <a:r>
              <a:rPr lang="en-IN" sz="3600"/>
              <a:t>Thank You</a:t>
            </a:r>
            <a:endParaRPr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