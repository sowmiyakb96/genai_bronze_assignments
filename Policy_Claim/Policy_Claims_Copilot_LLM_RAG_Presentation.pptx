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8" r:id="rId10"/>
    <p:sldId id="263" r:id="rId11"/>
    <p:sldId id="264" r:id="rId12"/>
    <p:sldId id="271" r:id="rId13"/>
    <p:sldId id="270" r:id="rId14"/>
    <p:sldId id="265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0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1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20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8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5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6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7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0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5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414" y="2146342"/>
            <a:ext cx="6129670" cy="1504844"/>
          </a:xfrm>
        </p:spPr>
        <p:txBody>
          <a:bodyPr>
            <a:noAutofit/>
          </a:bodyPr>
          <a:lstStyle/>
          <a:p>
            <a:pPr algn="ctr"/>
            <a:r>
              <a:rPr sz="3600" dirty="0"/>
              <a:t>Policy &amp; Claims Copilot</a:t>
            </a:r>
          </a:p>
          <a:p>
            <a:pPr algn="ctr"/>
            <a:r>
              <a:rPr sz="3600" dirty="0"/>
              <a:t>(LLM + RAG)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1353" y="5168858"/>
            <a:ext cx="1738423" cy="685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Nagapriya N</a:t>
            </a:r>
          </a:p>
          <a:p>
            <a:r>
              <a:rPr lang="en-US" b="1" dirty="0">
                <a:solidFill>
                  <a:srgbClr val="002060"/>
                </a:solidFill>
              </a:rPr>
              <a:t>52362865</a:t>
            </a:r>
            <a:endParaRPr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documents are dense and difficult to parse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find it hard to identify limits and exclusions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Claims handling is manual and time-consuming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chatbots may produce incorrect or vague replies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low confidence in automated support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Existing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call or visit insurer for queries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manually check policy documents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verification requires multiple documents and inspections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time depends on human availability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chances of misinterpretation or delay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Proposed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an LLM with RAG for policy Q&amp;A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 policies into chunks and index them in a vector store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the most relevant clauses before answering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 answers that cite actual policy language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Accelerate claim pre-screening and support workflows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Working of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Language Model leverages broad text data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produces natural, conversational answers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summarize and clarify policy queries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it may invent facts without document grounding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A6C9-5CA2-DE55-3ED5-72A88F74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12F8-FA80-F05A-4A8C-9904EE53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Working of LLM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1C2D2-F213-48DD-F1FC-1D17D9E2A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661" y="2486018"/>
            <a:ext cx="3790978" cy="187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9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Working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blends document search with LLM generation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fetches matching policy passages from the vector index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 passages are supplied to the LLM as context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keeps answers tied to real policy text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lowers hallucination risk and improves reliability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Working of LLM +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user submits a policy or claim question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retriever locates relevant clause snippets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LLM composes a response using those sources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 is consistent and anchored in policy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fosters trust and speeds customer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20B6-0255-B353-548E-CA4C9FB6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D7D1-2926-9894-C6E4-F3A57EA41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Working of LLM + RAG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8B8899-CD73-CA4F-0743-CDD15F5D2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2291177"/>
            <a:ext cx="5486400" cy="226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4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Without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LLM relies only on learned patterns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hallucinate or default to vague statements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may overlook precise coverage terms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may give different answers for similar queries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undermines confidence in insurance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Input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Input:</a:t>
            </a:r>
          </a:p>
          <a:p>
            <a:pPr>
              <a:defRPr sz="2200"/>
            </a:pPr>
            <a:r>
              <a:rPr dirty="0"/>
              <a:t> Policy document</a:t>
            </a:r>
          </a:p>
          <a:p>
            <a:pPr>
              <a:defRPr sz="2200"/>
            </a:pPr>
            <a:r>
              <a:rPr dirty="0"/>
              <a:t> Customer query or claim scenario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Output:</a:t>
            </a:r>
          </a:p>
          <a:p>
            <a:pPr>
              <a:defRPr sz="2200"/>
            </a:pPr>
            <a:r>
              <a:rPr dirty="0"/>
              <a:t>Policy-backed response</a:t>
            </a:r>
          </a:p>
          <a:p>
            <a:pPr>
              <a:defRPr sz="2200"/>
            </a:pPr>
            <a:r>
              <a:rPr dirty="0"/>
              <a:t> Coverage guidance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E13D-63E2-3287-279D-AC528BBA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FBB5F-998F-4671-DF24-ADB1A5944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161" y="863600"/>
            <a:ext cx="5395978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0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788D-776E-CE38-4235-3B24CB5F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68D0FB-A5E2-BD5B-CD15-42CE01917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2643616"/>
            <a:ext cx="5486400" cy="156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49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More accurate, consistent policy replies</a:t>
            </a:r>
          </a:p>
          <a:p>
            <a:pPr marL="0" indent="0">
              <a:buNone/>
              <a:defRPr sz="2200"/>
            </a:pPr>
            <a:r>
              <a:rPr dirty="0"/>
              <a:t>• Lower support center workload</a:t>
            </a:r>
          </a:p>
          <a:p>
            <a:pPr marL="0" indent="0">
              <a:buNone/>
              <a:defRPr sz="2200"/>
            </a:pPr>
            <a:r>
              <a:rPr dirty="0"/>
              <a:t>• Faster claim evaluation and response</a:t>
            </a:r>
          </a:p>
          <a:p>
            <a:pPr marL="0" indent="0">
              <a:buNone/>
              <a:defRPr sz="2200"/>
            </a:pPr>
            <a:r>
              <a:rPr dirty="0"/>
              <a:t>• Improved customer trust</a:t>
            </a:r>
          </a:p>
          <a:p>
            <a:pPr marL="0" indent="0">
              <a:buNone/>
              <a:defRPr sz="2200"/>
            </a:pPr>
            <a:r>
              <a:rPr dirty="0"/>
              <a:t>• Transparent answers with source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D287-DD0C-46E7-E798-E6E51D07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30E2-D425-41EC-595C-7E7D89C42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883" y="1683826"/>
            <a:ext cx="5677787" cy="150484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Thank You</a:t>
            </a:r>
            <a:endParaRPr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B0B35-3231-11FB-C4C6-8B1FE1B7F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1353" y="5168858"/>
            <a:ext cx="1738423" cy="685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Nagapriya N</a:t>
            </a:r>
          </a:p>
          <a:p>
            <a:r>
              <a:rPr lang="en-US" b="1" dirty="0">
                <a:solidFill>
                  <a:srgbClr val="002060"/>
                </a:solidFill>
              </a:rPr>
              <a:t>52362865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70457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23</TotalTime>
  <Words>319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Corbel</vt:lpstr>
      <vt:lpstr>Wingdings 2</vt:lpstr>
      <vt:lpstr>Frame</vt:lpstr>
      <vt:lpstr>Policy &amp; Claims Copilot (LLM + RAG)</vt:lpstr>
      <vt:lpstr>Problem</vt:lpstr>
      <vt:lpstr>Existing Process</vt:lpstr>
      <vt:lpstr>Proposed Process</vt:lpstr>
      <vt:lpstr>Working of LLM</vt:lpstr>
      <vt:lpstr>Working of LLM</vt:lpstr>
      <vt:lpstr>Working of RAG</vt:lpstr>
      <vt:lpstr>Working of LLM + RAG</vt:lpstr>
      <vt:lpstr>Working of LLM + RAG</vt:lpstr>
      <vt:lpstr>Without RAG</vt:lpstr>
      <vt:lpstr>Input / Output</vt:lpstr>
      <vt:lpstr>Input</vt:lpstr>
      <vt:lpstr>Output</vt:lpstr>
      <vt:lpstr>Advantages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Nagapriya N</cp:lastModifiedBy>
  <cp:revision>3</cp:revision>
  <dcterms:created xsi:type="dcterms:W3CDTF">2013-01-27T09:14:16Z</dcterms:created>
  <dcterms:modified xsi:type="dcterms:W3CDTF">2026-07-30T18:15:49Z</dcterms:modified>
  <cp:category/>
</cp:coreProperties>
</file>